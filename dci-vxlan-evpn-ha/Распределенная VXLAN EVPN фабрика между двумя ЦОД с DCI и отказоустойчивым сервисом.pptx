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3" r:id="rId1"/>
    <p:sldMasterId id="2147483735" r:id="rId2"/>
  </p:sldMasterIdLst>
  <p:notesMasterIdLst>
    <p:notesMasterId r:id="rId18"/>
  </p:notesMasterIdLst>
  <p:sldIdLst>
    <p:sldId id="256" r:id="rId3"/>
    <p:sldId id="258" r:id="rId4"/>
    <p:sldId id="259" r:id="rId5"/>
    <p:sldId id="260" r:id="rId6"/>
    <p:sldId id="306" r:id="rId7"/>
    <p:sldId id="261" r:id="rId8"/>
    <p:sldId id="262" r:id="rId9"/>
    <p:sldId id="307" r:id="rId10"/>
    <p:sldId id="308" r:id="rId11"/>
    <p:sldId id="309" r:id="rId12"/>
    <p:sldId id="310" r:id="rId13"/>
    <p:sldId id="311" r:id="rId14"/>
    <p:sldId id="312" r:id="rId15"/>
    <p:sldId id="264" r:id="rId16"/>
    <p:sldId id="265" r:id="rId1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Medium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  <p15:guide id="6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F86677-F069-4C29-8C1D-3D470B11A655}">
  <a:tblStyle styleId="{67F86677-F069-4C29-8C1D-3D470B11A6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56" y="656"/>
      </p:cViewPr>
      <p:guideLst>
        <p:guide pos="5533"/>
        <p:guide pos="397"/>
        <p:guide orient="horz" pos="3240"/>
        <p:guide orient="horz"/>
        <p:guide orient="horz" pos="510"/>
        <p:guide pos="1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f7d84ce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f7d84ce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6FD327D3-811C-4B60-8CA5-B0B068E2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f98075b259_0_38:notes">
            <a:extLst>
              <a:ext uri="{FF2B5EF4-FFF2-40B4-BE49-F238E27FC236}">
                <a16:creationId xmlns:a16="http://schemas.microsoft.com/office/drawing/2014/main" id="{001CFBE4-BBDD-1441-CE9C-9A8982931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f98075b259_0_38:notes">
            <a:extLst>
              <a:ext uri="{FF2B5EF4-FFF2-40B4-BE49-F238E27FC236}">
                <a16:creationId xmlns:a16="http://schemas.microsoft.com/office/drawing/2014/main" id="{CBE5DEF2-30B9-52AA-26B8-6C03FB524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391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082DB5F-763E-0947-AD49-E3C2DCB0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>
            <a:extLst>
              <a:ext uri="{FF2B5EF4-FFF2-40B4-BE49-F238E27FC236}">
                <a16:creationId xmlns:a16="http://schemas.microsoft.com/office/drawing/2014/main" id="{4AA2714D-DF60-08F3-EEDC-3567FE525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>
            <a:extLst>
              <a:ext uri="{FF2B5EF4-FFF2-40B4-BE49-F238E27FC236}">
                <a16:creationId xmlns:a16="http://schemas.microsoft.com/office/drawing/2014/main" id="{D06B8D80-4A09-C5FB-0DF0-9792857F6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289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" type="title">
  <p:cSld name="TITL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r>
              <a:rPr lang="ru" sz="24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+ картинка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Главная мысль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слайда, тезис, определение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 t="10742" b="10734"/>
          <a:stretch/>
        </p:blipFill>
        <p:spPr>
          <a:xfrm>
            <a:off x="5581050" y="867901"/>
            <a:ext cx="2868000" cy="31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>
            <a:spLocks noGrp="1"/>
          </p:cNvSpPr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-синий">
  <p:cSld name="MAIN_POINT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2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2"/>
          <p:cNvSpPr/>
          <p:nvPr/>
        </p:nvSpPr>
        <p:spPr>
          <a:xfrm>
            <a:off x="433125" y="553500"/>
            <a:ext cx="4161600" cy="415500"/>
          </a:xfrm>
          <a:prstGeom prst="roundRect">
            <a:avLst>
              <a:gd name="adj" fmla="val 16667"/>
            </a:avLst>
          </a:prstGeom>
          <a:solidFill>
            <a:srgbClr val="740FB4"/>
          </a:solidFill>
          <a:ln>
            <a:noFill/>
          </a:ln>
          <a:effectLst>
            <a:outerShdw blurRad="200025" dist="28575" dir="5400000" algn="bl" rotWithShape="0">
              <a:srgbClr val="000000">
                <a:alpha val="2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92"/>
          <p:cNvSpPr txBox="1"/>
          <p:nvPr/>
        </p:nvSpPr>
        <p:spPr>
          <a:xfrm>
            <a:off x="233589" y="1740768"/>
            <a:ext cx="8600872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Распределенная </a:t>
            </a:r>
            <a:r>
              <a:rPr lang="en-US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VXLAN EVPN </a:t>
            </a:r>
            <a:r>
              <a:rPr lang="ru-RU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фабрика между двумя ЦОД с </a:t>
            </a:r>
            <a:r>
              <a:rPr lang="en-US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DCI </a:t>
            </a:r>
            <a:r>
              <a:rPr lang="ru-RU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 отказоустойчивым сервисом</a:t>
            </a:r>
            <a:endParaRPr sz="32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92"/>
          <p:cNvSpPr txBox="1"/>
          <p:nvPr/>
        </p:nvSpPr>
        <p:spPr>
          <a:xfrm>
            <a:off x="572150" y="553500"/>
            <a:ext cx="434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500" dirty="0">
              <a:solidFill>
                <a:srgbClr val="F4F4F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94"/>
          <p:cNvPicPr preferRelativeResize="0"/>
          <p:nvPr/>
        </p:nvPicPr>
        <p:blipFill>
          <a:blip r:embed="rId3">
            <a:alphaModFix/>
          </a:blip>
          <a:srcRect t="664" b="664"/>
          <a:stretch/>
        </p:blipFill>
        <p:spPr>
          <a:xfrm>
            <a:off x="685002" y="1658470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94"/>
          <p:cNvSpPr txBox="1"/>
          <p:nvPr/>
        </p:nvSpPr>
        <p:spPr>
          <a:xfrm>
            <a:off x="4009478" y="1282570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Анохин Александр</a:t>
            </a:r>
            <a:endParaRPr sz="23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94"/>
          <p:cNvSpPr txBox="1"/>
          <p:nvPr/>
        </p:nvSpPr>
        <p:spPr>
          <a:xfrm>
            <a:off x="4009478" y="1808770"/>
            <a:ext cx="415476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/>
              <a:t>Сетевой инженер с опытом </a:t>
            </a:r>
            <a:r>
              <a:rPr lang="ru-RU" b="1" dirty="0"/>
              <a:t>&gt;5 лет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/>
              <a:t>Строил и управлял </a:t>
            </a:r>
            <a:r>
              <a:rPr lang="ru-RU" b="1" dirty="0" err="1"/>
              <a:t>геораспределённой</a:t>
            </a:r>
            <a:r>
              <a:rPr lang="ru-RU" b="1" dirty="0"/>
              <a:t> сетью</a:t>
            </a:r>
            <a:r>
              <a:rPr lang="ru-RU" dirty="0"/>
              <a:t> на MPLS/BGP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/>
              <a:t>Реализовал </a:t>
            </a:r>
            <a:r>
              <a:rPr lang="ru-RU" b="1" dirty="0"/>
              <a:t>EVPN/VXLAN фабрику</a:t>
            </a:r>
            <a:r>
              <a:rPr lang="ru-RU" dirty="0"/>
              <a:t> для крупного заказчика — платформа для продажи </a:t>
            </a:r>
            <a:r>
              <a:rPr lang="ru-RU" dirty="0" err="1"/>
              <a:t>SaaS</a:t>
            </a:r>
            <a:r>
              <a:rPr lang="ru-RU" dirty="0"/>
              <a:t>/</a:t>
            </a:r>
            <a:r>
              <a:rPr lang="ru-RU" dirty="0" err="1"/>
              <a:t>PaaS</a:t>
            </a:r>
            <a:r>
              <a:rPr lang="ru-RU" dirty="0"/>
              <a:t>/</a:t>
            </a:r>
            <a:r>
              <a:rPr lang="ru-RU" dirty="0" err="1"/>
              <a:t>IaaS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/>
              <a:t>Сейчас проектирую </a:t>
            </a:r>
            <a:r>
              <a:rPr lang="ru-RU" b="1" dirty="0"/>
              <a:t>2 ЦОД в </a:t>
            </a:r>
            <a:r>
              <a:rPr lang="ru-RU" b="1" dirty="0" err="1"/>
              <a:t>active-active</a:t>
            </a:r>
            <a:r>
              <a:rPr lang="ru-RU" dirty="0"/>
              <a:t> для сбора данных с кассовых аппаратов по всей РФ, пиковая нагрузка: </a:t>
            </a:r>
            <a:r>
              <a:rPr lang="ru-RU" b="1" dirty="0"/>
              <a:t>&gt;100 000 одновременных соединений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5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398" name="Google Shape;398;p95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95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95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95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" name="Google Shape;402;p95"/>
          <p:cNvCxnSpPr>
            <a:stCxn id="398" idx="1"/>
            <a:endCxn id="399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95"/>
          <p:cNvCxnSpPr>
            <a:stCxn id="399" idx="1"/>
            <a:endCxn id="400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95"/>
          <p:cNvCxnSpPr>
            <a:stCxn id="400" idx="1"/>
            <a:endCxn id="401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5"/>
          <p:cNvCxnSpPr>
            <a:stCxn id="401" idx="1"/>
            <a:endCxn id="406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6" name="Google Shape;406;p95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6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2" name="Google Shape;412;p96"/>
          <p:cNvGraphicFramePr/>
          <p:nvPr>
            <p:extLst>
              <p:ext uri="{D42A27DB-BD31-4B8C-83A1-F6EECF244321}">
                <p14:modId xmlns:p14="http://schemas.microsoft.com/office/powerpoint/2010/main" val="3432816554"/>
              </p:ext>
            </p:extLst>
          </p:nvPr>
        </p:nvGraphicFramePr>
        <p:xfrm>
          <a:off x="952500" y="2382125"/>
          <a:ext cx="7239000" cy="2150842"/>
        </p:xfrm>
        <a:graphic>
          <a:graphicData uri="http://schemas.openxmlformats.org/drawingml/2006/table">
            <a:tbl>
              <a:tblPr>
                <a:noFill/>
                <a:tableStyleId>{67F86677-F069-4C29-8C1D-3D470B11A655}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Построить два независимых VXLAN EVPN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fabric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 DC-MSK и DC-VVO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Реализовать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eBGP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underlay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EVPN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control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plane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Настроить MLAG для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dual-homed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серверов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Использовать L2VNI + L3VNI в VRF PROD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Организовать L3 DCI через Cisco C7200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Обеспечить локальное предпочтение сервиса в каждом ЦОД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Продемонстрировать переключение VIP 10.255.0.10 при отказе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Подтвердить сохранение доступности при отказе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member-link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MLAG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3" name="Google Shape;413;p96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b="1" dirty="0"/>
              <a:t>Смоделировать реальную задачу:</a:t>
            </a:r>
            <a:r>
              <a:rPr lang="ru-RU" dirty="0"/>
              <a:t> распределённый сервис между двумя ЦОД с общим VIP и автоматическим </a:t>
            </a:r>
            <a:r>
              <a:rPr lang="ru-RU" dirty="0" err="1"/>
              <a:t>failover</a:t>
            </a:r>
            <a:r>
              <a:rPr lang="ru-RU" dirty="0"/>
              <a:t>.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5D350393-7556-7239-D259-890ECB47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7">
            <a:extLst>
              <a:ext uri="{FF2B5EF4-FFF2-40B4-BE49-F238E27FC236}">
                <a16:creationId xmlns:a16="http://schemas.microsoft.com/office/drawing/2014/main" id="{3B512EF8-491A-E672-6E22-8DA645B777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Общая архитектура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C35D5E-9060-F128-D04D-E11F9981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65" y="1226254"/>
            <a:ext cx="7511970" cy="349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0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Общая архитектура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C98BC6C-A3B1-7D3E-5171-D591279CC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868630"/>
              </p:ext>
            </p:extLst>
          </p:nvPr>
        </p:nvGraphicFramePr>
        <p:xfrm>
          <a:off x="1524000" y="1644650"/>
          <a:ext cx="6096000" cy="2230120"/>
        </p:xfrm>
        <a:graphic>
          <a:graphicData uri="http://schemas.openxmlformats.org/drawingml/2006/table">
            <a:tbl>
              <a:tblPr firstRow="1" bandRow="1">
                <a:tableStyleId>{67F86677-F069-4C29-8C1D-3D470B11A655}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30052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9390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4243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Компонент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1" dirty="0"/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6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 dirty="0" err="1">
                          <a:effectLst/>
                          <a:latin typeface="inherit"/>
                        </a:rPr>
                        <a:t>Spine</a:t>
                      </a:r>
                      <a:r>
                        <a:rPr lang="ru-RU" dirty="0">
                          <a:effectLst/>
                          <a:latin typeface="inherit"/>
                        </a:rPr>
                        <a:t>-MSK / </a:t>
                      </a:r>
                      <a:r>
                        <a:rPr lang="ru-RU" dirty="0" err="1">
                          <a:effectLst/>
                          <a:latin typeface="inherit"/>
                        </a:rPr>
                        <a:t>Spine</a:t>
                      </a:r>
                      <a:r>
                        <a:rPr lang="ru-RU" dirty="0">
                          <a:effectLst/>
                          <a:latin typeface="inherit"/>
                        </a:rPr>
                        <a:t>-VVO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eBGP underlay, EVPN RR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65000 / 65010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58581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Leaf-MSK + Border-MSK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MLAG, VTEP, anycast </a:t>
                      </a:r>
                      <a:r>
                        <a:rPr lang="ru-RU">
                          <a:effectLst/>
                          <a:latin typeface="Courier New" panose="02070309020205020404" pitchFamily="49" charset="0"/>
                        </a:rPr>
                        <a:t>100.100.1.12</a:t>
                      </a:r>
                      <a:endParaRPr lang="ru-RU">
                        <a:effectLst/>
                        <a:latin typeface="inherit"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65101 / 65102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26694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Leaf-VVO + Border-VVO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MLAG, VTEP, anycast </a:t>
                      </a:r>
                      <a:r>
                        <a:rPr lang="ru-RU">
                          <a:effectLst/>
                          <a:latin typeface="Courier New" panose="02070309020205020404" pitchFamily="49" charset="0"/>
                        </a:rPr>
                        <a:t>100.100.2.12</a:t>
                      </a:r>
                      <a:endParaRPr lang="ru-RU">
                        <a:effectLst/>
                        <a:latin typeface="inherit"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65201 / 65202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56336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R-WAN (Cisco C7200)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L3 DCI, не VTEP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65500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380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Стек технологий</a:t>
            </a: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086C8-DC34-48C1-55BD-35EBD53701EF}"/>
              </a:ext>
            </a:extLst>
          </p:cNvPr>
          <p:cNvSpPr txBox="1"/>
          <p:nvPr/>
        </p:nvSpPr>
        <p:spPr>
          <a:xfrm>
            <a:off x="311700" y="1426624"/>
            <a:ext cx="852059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1" dirty="0" err="1"/>
              <a:t>Overlay</a:t>
            </a:r>
            <a:r>
              <a:rPr lang="ru-RU" b="1" dirty="0"/>
              <a:t>: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VXLAN</a:t>
            </a:r>
            <a:r>
              <a:rPr lang="ru-RU" dirty="0"/>
              <a:t> — инкапсуляция L2/L3 трафика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EVPN</a:t>
            </a:r>
            <a:r>
              <a:rPr lang="ru-RU" dirty="0"/>
              <a:t> — 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/>
              <a:t>plane</a:t>
            </a:r>
            <a:r>
              <a:rPr lang="ru-RU" dirty="0"/>
              <a:t> для MAC/IP и IP-</a:t>
            </a:r>
            <a:r>
              <a:rPr lang="ru-RU" dirty="0" err="1"/>
              <a:t>prefix</a:t>
            </a:r>
            <a:r>
              <a:rPr lang="ru-RU" dirty="0"/>
              <a:t> </a:t>
            </a:r>
            <a:r>
              <a:rPr lang="ru-RU" dirty="0" err="1"/>
              <a:t>routes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L2VNI</a:t>
            </a:r>
            <a:r>
              <a:rPr lang="ru-RU" dirty="0"/>
              <a:t> — VLAN 20: MSK 10020, VVO 20020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L3VNI</a:t>
            </a:r>
            <a:r>
              <a:rPr lang="ru-RU" dirty="0"/>
              <a:t> — VRF PROD, VNI 50100, RT 50100:50100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 err="1"/>
              <a:t>Anycast</a:t>
            </a:r>
            <a:r>
              <a:rPr lang="ru-RU" b="1" dirty="0"/>
              <a:t> VTEP</a:t>
            </a:r>
            <a:r>
              <a:rPr lang="ru-RU" dirty="0"/>
              <a:t> — общий IP в MLAG-паре для симметричного IRB</a:t>
            </a:r>
          </a:p>
          <a:p>
            <a:pPr fontAlgn="base"/>
            <a:endParaRPr lang="ru-RU" dirty="0"/>
          </a:p>
          <a:p>
            <a:pPr fontAlgn="base"/>
            <a:endParaRPr lang="ru-RU" dirty="0"/>
          </a:p>
          <a:p>
            <a:pPr fontAlgn="base"/>
            <a:r>
              <a:rPr lang="ru-RU" b="1" dirty="0" err="1"/>
              <a:t>Underlay</a:t>
            </a:r>
            <a:r>
              <a:rPr lang="ru-RU" b="1" dirty="0"/>
              <a:t>: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 err="1"/>
              <a:t>eBGP</a:t>
            </a:r>
            <a:r>
              <a:rPr lang="ru-RU" dirty="0"/>
              <a:t> — распространение </a:t>
            </a:r>
            <a:r>
              <a:rPr lang="ru-RU" dirty="0" err="1"/>
              <a:t>loopback</a:t>
            </a:r>
            <a:r>
              <a:rPr lang="ru-RU" dirty="0"/>
              <a:t> и VTEP-адресов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/31</a:t>
            </a:r>
            <a:r>
              <a:rPr lang="ru-RU" dirty="0"/>
              <a:t> — оптимальное использование адресного пространства</a:t>
            </a:r>
          </a:p>
          <a:p>
            <a:pPr fontAlgn="base"/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9CBCC59C-DC86-383C-3580-71D89107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">
            <a:extLst>
              <a:ext uri="{FF2B5EF4-FFF2-40B4-BE49-F238E27FC236}">
                <a16:creationId xmlns:a16="http://schemas.microsoft.com/office/drawing/2014/main" id="{62614993-A638-9842-919D-7CF7B8C2D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Стек технологий</a:t>
            </a: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8B2EB-94B6-EE06-9FD7-3C817478F1FF}"/>
              </a:ext>
            </a:extLst>
          </p:cNvPr>
          <p:cNvSpPr txBox="1"/>
          <p:nvPr/>
        </p:nvSpPr>
        <p:spPr>
          <a:xfrm>
            <a:off x="311700" y="1426624"/>
            <a:ext cx="852059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1" dirty="0"/>
              <a:t>Отказоустойчивость: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MLAG</a:t>
            </a:r>
            <a:r>
              <a:rPr lang="ru-RU" dirty="0"/>
              <a:t> — </a:t>
            </a:r>
            <a:r>
              <a:rPr lang="ru-RU" dirty="0" err="1"/>
              <a:t>dual-homed</a:t>
            </a:r>
            <a:r>
              <a:rPr lang="ru-RU" dirty="0"/>
              <a:t> подключение серверов к паре </a:t>
            </a:r>
            <a:r>
              <a:rPr lang="ru-RU" dirty="0" err="1"/>
              <a:t>Leaf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Linux </a:t>
            </a:r>
            <a:r>
              <a:rPr lang="ru-RU" b="1" dirty="0" err="1"/>
              <a:t>bond</a:t>
            </a:r>
            <a:r>
              <a:rPr lang="ru-RU" b="1" dirty="0"/>
              <a:t> (</a:t>
            </a:r>
            <a:r>
              <a:rPr lang="ru-RU" b="1" dirty="0" err="1"/>
              <a:t>balance-xor</a:t>
            </a:r>
            <a:r>
              <a:rPr lang="ru-RU" b="1" dirty="0"/>
              <a:t>)</a:t>
            </a:r>
            <a:r>
              <a:rPr lang="ru-RU" dirty="0"/>
              <a:t> — агрегация двух </a:t>
            </a:r>
            <a:r>
              <a:rPr lang="ru-RU" dirty="0" err="1"/>
              <a:t>uplink'ов</a:t>
            </a:r>
            <a:r>
              <a:rPr lang="ru-RU" dirty="0"/>
              <a:t> на сервере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/>
              <a:t>MLAG </a:t>
            </a:r>
            <a:r>
              <a:rPr lang="ru-RU" b="1" dirty="0" err="1"/>
              <a:t>peer</a:t>
            </a:r>
            <a:r>
              <a:rPr lang="ru-RU" b="1" dirty="0"/>
              <a:t> </a:t>
            </a:r>
            <a:r>
              <a:rPr lang="ru-RU" b="1" dirty="0" err="1"/>
              <a:t>transit</a:t>
            </a:r>
            <a:r>
              <a:rPr lang="ru-RU" b="1" dirty="0"/>
              <a:t> (VLAN 4093)</a:t>
            </a:r>
            <a:r>
              <a:rPr lang="ru-RU" dirty="0"/>
              <a:t> — L3-транзит внутри пары для </a:t>
            </a:r>
            <a:r>
              <a:rPr lang="ru-RU" dirty="0" err="1"/>
              <a:t>return</a:t>
            </a:r>
            <a:r>
              <a:rPr lang="ru-RU" dirty="0"/>
              <a:t> </a:t>
            </a:r>
            <a:r>
              <a:rPr lang="ru-RU" dirty="0" err="1"/>
              <a:t>path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endParaRPr lang="ru-RU" dirty="0"/>
          </a:p>
          <a:p>
            <a:pPr fontAlgn="base"/>
            <a:r>
              <a:rPr lang="ru-RU" b="1" dirty="0"/>
              <a:t>DCI: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 err="1"/>
              <a:t>eBGP</a:t>
            </a:r>
            <a:r>
              <a:rPr lang="ru-RU" dirty="0"/>
              <a:t> — сессии </a:t>
            </a:r>
            <a:r>
              <a:rPr lang="ru-RU" dirty="0" err="1"/>
              <a:t>Border</a:t>
            </a:r>
            <a:r>
              <a:rPr lang="ru-RU" dirty="0"/>
              <a:t> ↔ R-WAN ↔ </a:t>
            </a:r>
            <a:r>
              <a:rPr lang="ru-RU" dirty="0" err="1"/>
              <a:t>Border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dirty="0" err="1"/>
              <a:t>Route-map</a:t>
            </a:r>
            <a:r>
              <a:rPr lang="ru-RU" dirty="0"/>
              <a:t> — фильтрация рекламируемых префиксов</a:t>
            </a:r>
          </a:p>
        </p:txBody>
      </p:sp>
    </p:spTree>
    <p:extLst>
      <p:ext uri="{BB962C8B-B14F-4D97-AF65-F5344CB8AC3E}">
        <p14:creationId xmlns:p14="http://schemas.microsoft.com/office/powerpoint/2010/main" val="161244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99866-8B6B-74F2-18DD-405317A1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Штатное состояние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A72D4-93DB-6EC6-B16C-8F595BE2E08C}"/>
              </a:ext>
            </a:extLst>
          </p:cNvPr>
          <p:cNvSpPr txBox="1"/>
          <p:nvPr/>
        </p:nvSpPr>
        <p:spPr>
          <a:xfrm>
            <a:off x="141735" y="1902720"/>
            <a:ext cx="6357450" cy="133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MLAG Active, </a:t>
            </a:r>
            <a:r>
              <a:rPr lang="ru-RU" b="0" i="0" dirty="0" err="1">
                <a:effectLst/>
                <a:latin typeface="inherit"/>
              </a:rPr>
              <a:t>peer-link</a:t>
            </a:r>
            <a:r>
              <a:rPr lang="ru-RU" b="0" i="0" dirty="0">
                <a:effectLst/>
                <a:latin typeface="inherit"/>
              </a:rPr>
              <a:t> Up, Po10 </a:t>
            </a:r>
            <a:r>
              <a:rPr lang="ru-RU" b="0" i="0" dirty="0" err="1">
                <a:effectLst/>
                <a:latin typeface="inherit"/>
              </a:rPr>
              <a:t>connected</a:t>
            </a:r>
            <a:endParaRPr lang="ru-RU" b="0" i="0" dirty="0">
              <a:effectLst/>
              <a:latin typeface="inherit"/>
            </a:endParaRP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Linux </a:t>
            </a:r>
            <a:r>
              <a:rPr lang="ru-RU" b="0" i="0" dirty="0" err="1">
                <a:effectLst/>
                <a:latin typeface="inherit"/>
              </a:rPr>
              <a:t>bond</a:t>
            </a:r>
            <a:r>
              <a:rPr lang="ru-RU" b="0" i="0" dirty="0">
                <a:effectLst/>
                <a:latin typeface="inherit"/>
              </a:rPr>
              <a:t> UP, оба </a:t>
            </a:r>
            <a:r>
              <a:rPr lang="ru-RU" b="0" i="0" dirty="0" err="1">
                <a:effectLst/>
                <a:latin typeface="inherit"/>
              </a:rPr>
              <a:t>slave</a:t>
            </a:r>
            <a:r>
              <a:rPr lang="ru-RU" b="0" i="0" dirty="0">
                <a:effectLst/>
                <a:latin typeface="inherit"/>
              </a:rPr>
              <a:t> активны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Client-MSK →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Marketplace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service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- MSK DC</a:t>
            </a:r>
            <a:endParaRPr lang="ru-RU" b="0" i="0" dirty="0">
              <a:effectLst/>
              <a:latin typeface="inherit"/>
            </a:endParaRPr>
          </a:p>
          <a:p>
            <a:pPr algn="l" fontAlgn="base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Client-VVO →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Marketplace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service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- VVO DC</a:t>
            </a:r>
            <a:endParaRPr lang="ru-RU" b="0" i="0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45060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95C68-A7B1-D867-0EE9-00BE5BA5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Тест 1 — Отказ </a:t>
            </a:r>
            <a:r>
              <a:rPr lang="ru-RU" dirty="0" err="1"/>
              <a:t>member-link</a:t>
            </a:r>
            <a:r>
              <a:rPr lang="ru-RU" dirty="0"/>
              <a:t> MLAG</a:t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3277B-06BE-4204-867B-C69E775975CB}"/>
              </a:ext>
            </a:extLst>
          </p:cNvPr>
          <p:cNvSpPr txBox="1"/>
          <p:nvPr/>
        </p:nvSpPr>
        <p:spPr>
          <a:xfrm>
            <a:off x="500550" y="1400028"/>
            <a:ext cx="6357450" cy="182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inherit"/>
              </a:rPr>
              <a:t>Сценарий:</a:t>
            </a:r>
            <a:r>
              <a:rPr lang="ru-RU" b="0" i="0" dirty="0">
                <a:effectLst/>
                <a:latin typeface="-apple-system"/>
              </a:rPr>
              <a:t> Выключение одного линка </a:t>
            </a:r>
            <a:r>
              <a:rPr lang="ru-RU" b="0" i="0" dirty="0" err="1">
                <a:effectLst/>
                <a:latin typeface="-apple-system"/>
              </a:rPr>
              <a:t>App</a:t>
            </a:r>
            <a:r>
              <a:rPr lang="ru-RU" b="0" i="0" dirty="0">
                <a:effectLst/>
                <a:latin typeface="-apple-system"/>
              </a:rPr>
              <a:t>-MSK → </a:t>
            </a:r>
            <a:r>
              <a:rPr lang="ru-RU" b="0" i="0" dirty="0" err="1">
                <a:effectLst/>
                <a:latin typeface="-apple-system"/>
              </a:rPr>
              <a:t>Leaf</a:t>
            </a:r>
            <a:r>
              <a:rPr lang="ru-RU" b="0" i="0" dirty="0">
                <a:effectLst/>
                <a:latin typeface="-apple-system"/>
              </a:rPr>
              <a:t>-MSK</a:t>
            </a:r>
          </a:p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inherit"/>
              </a:rPr>
              <a:t>Результат:</a:t>
            </a:r>
            <a:endParaRPr lang="ru-RU" b="0" i="0" dirty="0">
              <a:effectLst/>
              <a:latin typeface="-apple-system"/>
            </a:endParaRP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Bond0 остаётся UP (ens4 активен)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Единичные потери во время </a:t>
            </a:r>
            <a:r>
              <a:rPr lang="ru-RU" b="0" i="0" dirty="0" err="1">
                <a:effectLst/>
                <a:latin typeface="inherit"/>
              </a:rPr>
              <a:t>reconvergence</a:t>
            </a:r>
            <a:endParaRPr lang="ru-RU" b="0" i="0" dirty="0">
              <a:effectLst/>
              <a:latin typeface="inherit"/>
            </a:endParaRPr>
          </a:p>
          <a:p>
            <a:pPr algn="l" fontAlgn="base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Сервис доступен: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Marketplace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service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- MSK DC</a:t>
            </a:r>
            <a:endParaRPr lang="ru-RU" b="0" i="0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461214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40BDF-58D6-2AEB-CADE-80D78896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Тест 2 — </a:t>
            </a:r>
            <a:r>
              <a:rPr lang="ru-RU" dirty="0" err="1"/>
              <a:t>МежЦОДовый</a:t>
            </a:r>
            <a:r>
              <a:rPr lang="ru-RU" dirty="0"/>
              <a:t> </a:t>
            </a:r>
            <a:r>
              <a:rPr lang="ru-RU" dirty="0" err="1"/>
              <a:t>failover</a:t>
            </a:r>
            <a:r>
              <a:rPr lang="ru-RU" dirty="0"/>
              <a:t> VIP</a:t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D092B-084E-407D-DE64-75A4B75BCB9D}"/>
              </a:ext>
            </a:extLst>
          </p:cNvPr>
          <p:cNvSpPr txBox="1"/>
          <p:nvPr/>
        </p:nvSpPr>
        <p:spPr>
          <a:xfrm>
            <a:off x="347241" y="1233316"/>
            <a:ext cx="6510759" cy="190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inherit"/>
              </a:rPr>
              <a:t>Сценарий:</a:t>
            </a:r>
            <a:r>
              <a:rPr lang="ru-RU" b="0" i="0" dirty="0">
                <a:effectLst/>
                <a:latin typeface="-apple-system"/>
              </a:rPr>
              <a:t> Локальный сервис MSK недоступен</a:t>
            </a:r>
          </a:p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inherit"/>
              </a:rPr>
              <a:t>Действие:</a:t>
            </a:r>
            <a:r>
              <a:rPr lang="ru-RU" b="0" i="0" dirty="0">
                <a:effectLst/>
                <a:latin typeface="-apple-system"/>
              </a:rPr>
              <a:t> Удаление </a:t>
            </a:r>
            <a:r>
              <a:rPr lang="ru-RU" b="0" i="0" dirty="0" err="1">
                <a:effectLst/>
                <a:latin typeface="-apple-system"/>
              </a:rPr>
              <a:t>static</a:t>
            </a:r>
            <a:r>
              <a:rPr lang="ru-RU" b="0" i="0" dirty="0">
                <a:effectLst/>
                <a:latin typeface="-apple-system"/>
              </a:rPr>
              <a:t> </a:t>
            </a:r>
            <a:r>
              <a:rPr lang="ru-RU" b="0" i="0" dirty="0" err="1">
                <a:effectLst/>
                <a:latin typeface="-apple-system"/>
              </a:rPr>
              <a:t>route</a:t>
            </a:r>
            <a:r>
              <a:rPr lang="ru-RU" b="0" i="0" dirty="0">
                <a:effectLst/>
                <a:latin typeface="-apple-system"/>
              </a:rPr>
              <a:t> на </a:t>
            </a:r>
            <a:r>
              <a:rPr lang="ru-RU" b="0" i="0" dirty="0" err="1">
                <a:effectLst/>
                <a:latin typeface="-apple-system"/>
              </a:rPr>
              <a:t>Border</a:t>
            </a:r>
            <a:r>
              <a:rPr lang="ru-RU" b="0" i="0" dirty="0">
                <a:effectLst/>
                <a:latin typeface="-apple-system"/>
              </a:rPr>
              <a:t>-MSK → BGP </a:t>
            </a:r>
            <a:r>
              <a:rPr lang="ru-RU" b="0" i="0" dirty="0" err="1">
                <a:effectLst/>
                <a:latin typeface="-apple-system"/>
              </a:rPr>
              <a:t>convergence</a:t>
            </a:r>
            <a:endParaRPr lang="ru-RU" b="0" i="0" dirty="0">
              <a:effectLst/>
              <a:latin typeface="-apple-system"/>
            </a:endParaRPr>
          </a:p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inherit"/>
              </a:rPr>
              <a:t>Результат:</a:t>
            </a:r>
            <a:endParaRPr lang="ru-RU" b="0" i="0" dirty="0">
              <a:effectLst/>
              <a:latin typeface="-apple-system"/>
            </a:endParaRP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Путь: Client-MSK → </a:t>
            </a:r>
            <a:r>
              <a:rPr lang="ru-RU" b="0" i="0" dirty="0" err="1">
                <a:effectLst/>
                <a:latin typeface="inherit"/>
              </a:rPr>
              <a:t>Border</a:t>
            </a:r>
            <a:r>
              <a:rPr lang="ru-RU" b="0" i="0" dirty="0">
                <a:effectLst/>
                <a:latin typeface="inherit"/>
              </a:rPr>
              <a:t>-MSK → R-WAN → </a:t>
            </a:r>
            <a:r>
              <a:rPr lang="ru-RU" b="0" i="0" dirty="0" err="1">
                <a:effectLst/>
                <a:latin typeface="inherit"/>
              </a:rPr>
              <a:t>Border</a:t>
            </a:r>
            <a:r>
              <a:rPr lang="ru-RU" b="0" i="0" dirty="0">
                <a:effectLst/>
                <a:latin typeface="inherit"/>
              </a:rPr>
              <a:t>-VVO → </a:t>
            </a:r>
            <a:r>
              <a:rPr lang="ru-RU" b="0" i="0" dirty="0" err="1">
                <a:effectLst/>
                <a:latin typeface="inherit"/>
              </a:rPr>
              <a:t>App</a:t>
            </a:r>
            <a:r>
              <a:rPr lang="ru-RU" b="0" i="0" dirty="0">
                <a:effectLst/>
                <a:latin typeface="inherit"/>
              </a:rPr>
              <a:t>-VVO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herit"/>
              </a:rPr>
              <a:t>✅ Клиент получает: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Marketplace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</a:t>
            </a:r>
            <a:r>
              <a:rPr lang="ru-RU" b="0" i="0" dirty="0" err="1">
                <a:effectLst/>
                <a:latin typeface="Courier New" panose="02070309020205020404" pitchFamily="49" charset="0"/>
              </a:rPr>
              <a:t>service</a:t>
            </a:r>
            <a:r>
              <a:rPr lang="ru-RU" b="0" i="0" dirty="0">
                <a:effectLst/>
                <a:latin typeface="Courier New" panose="02070309020205020404" pitchFamily="49" charset="0"/>
              </a:rPr>
              <a:t> - VVO DC</a:t>
            </a:r>
            <a:endParaRPr lang="ru-RU" b="0" i="0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11328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2C5A7-3F4F-223B-03A8-ED23FCBE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Сводка проверок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F1EE87B-5F1E-3CE0-A8F2-807D2AF29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59233"/>
              </p:ext>
            </p:extLst>
          </p:nvPr>
        </p:nvGraphicFramePr>
        <p:xfrm>
          <a:off x="1524000" y="1187932"/>
          <a:ext cx="6096000" cy="3337560"/>
        </p:xfrm>
        <a:graphic>
          <a:graphicData uri="http://schemas.openxmlformats.org/drawingml/2006/table">
            <a:tbl>
              <a:tblPr firstRow="1" bandRow="1">
                <a:tableStyleId>{67F86677-F069-4C29-8C1D-3D470B11A655}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809722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47726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inherit"/>
                        </a:rPr>
                        <a:t>Проверка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 b="1">
                          <a:effectLst/>
                          <a:latin typeface="inherit"/>
                        </a:rPr>
                        <a:t>Статус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77986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eBGP underlay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56241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EVPN control plane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94493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L2VNI + L3VNI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46292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MLAG dual-homed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439790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Локальное предпочтение VIP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812259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L3 DCI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74622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VIP failover между ЦОД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428585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>
                          <a:effectLst/>
                          <a:latin typeface="inherit"/>
                        </a:rPr>
                        <a:t>Отказоустойчивость member-link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ru-RU" dirty="0">
                          <a:effectLst/>
                          <a:latin typeface="inherit"/>
                        </a:rPr>
                        <a:t>✅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07555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9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71827-8AE9-62E9-B981-1B3F71D9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Выводы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240EE-9441-F8B8-C408-0B019E6EF4D4}"/>
              </a:ext>
            </a:extLst>
          </p:cNvPr>
          <p:cNvSpPr txBox="1"/>
          <p:nvPr/>
        </p:nvSpPr>
        <p:spPr>
          <a:xfrm>
            <a:off x="500550" y="1095490"/>
            <a:ext cx="6357450" cy="192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19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inherit"/>
              </a:rPr>
              <a:t>VXLAN EVPN</a:t>
            </a:r>
            <a:r>
              <a:rPr lang="ru-RU" b="0" i="0" dirty="0">
                <a:effectLst/>
                <a:latin typeface="inherit"/>
              </a:rPr>
              <a:t> — рабочая технология для мульти-</a:t>
            </a:r>
            <a:r>
              <a:rPr lang="ru-RU" b="0" i="0" dirty="0" err="1">
                <a:effectLst/>
                <a:latin typeface="inherit"/>
              </a:rPr>
              <a:t>тенантных</a:t>
            </a:r>
            <a:r>
              <a:rPr lang="ru-RU" b="0" i="0" dirty="0">
                <a:effectLst/>
                <a:latin typeface="inherit"/>
              </a:rPr>
              <a:t> фабрик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inherit"/>
              </a:rPr>
              <a:t>MLAG + Linux </a:t>
            </a:r>
            <a:r>
              <a:rPr lang="ru-RU" b="1" i="0" dirty="0" err="1">
                <a:effectLst/>
                <a:latin typeface="inherit"/>
              </a:rPr>
              <a:t>bond</a:t>
            </a:r>
            <a:r>
              <a:rPr lang="ru-RU" b="0" i="0" dirty="0">
                <a:effectLst/>
                <a:latin typeface="inherit"/>
              </a:rPr>
              <a:t> — надёжная отказоустойчивость на уровне сервера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1" i="0" dirty="0" err="1">
                <a:effectLst/>
                <a:latin typeface="inherit"/>
              </a:rPr>
              <a:t>Anycast</a:t>
            </a:r>
            <a:r>
              <a:rPr lang="ru-RU" b="1" i="0" dirty="0">
                <a:effectLst/>
                <a:latin typeface="inherit"/>
              </a:rPr>
              <a:t> VTEP</a:t>
            </a:r>
            <a:r>
              <a:rPr lang="ru-RU" b="0" i="0" dirty="0">
                <a:effectLst/>
                <a:latin typeface="inherit"/>
              </a:rPr>
              <a:t> — корректно работает для симметричного IRB</a:t>
            </a:r>
          </a:p>
          <a:p>
            <a:pPr algn="l" fontAlgn="base">
              <a:lnSpc>
                <a:spcPts val="19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inherit"/>
              </a:rPr>
              <a:t>L3 DCI через </a:t>
            </a:r>
            <a:r>
              <a:rPr lang="ru-RU" b="1" i="0" dirty="0" err="1">
                <a:effectLst/>
                <a:latin typeface="inherit"/>
              </a:rPr>
              <a:t>eBGP</a:t>
            </a:r>
            <a:r>
              <a:rPr lang="ru-RU" b="0" i="0" dirty="0">
                <a:effectLst/>
                <a:latin typeface="inherit"/>
              </a:rPr>
              <a:t> — позволяет распространять VIP между ЦОД</a:t>
            </a:r>
          </a:p>
          <a:p>
            <a:pPr algn="l" fontAlgn="base">
              <a:lnSpc>
                <a:spcPts val="195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b="1" i="0" dirty="0" err="1">
                <a:effectLst/>
                <a:latin typeface="inherit"/>
              </a:rPr>
              <a:t>Static</a:t>
            </a:r>
            <a:r>
              <a:rPr lang="ru-RU" b="1" i="0" dirty="0">
                <a:effectLst/>
                <a:latin typeface="inherit"/>
              </a:rPr>
              <a:t> </a:t>
            </a:r>
            <a:r>
              <a:rPr lang="ru-RU" b="1" i="0" dirty="0" err="1">
                <a:effectLst/>
                <a:latin typeface="inherit"/>
              </a:rPr>
              <a:t>route</a:t>
            </a:r>
            <a:r>
              <a:rPr lang="ru-RU" b="1" i="0" dirty="0">
                <a:effectLst/>
                <a:latin typeface="inherit"/>
              </a:rPr>
              <a:t> + BGP</a:t>
            </a:r>
            <a:r>
              <a:rPr lang="ru-RU" b="0" i="0" dirty="0">
                <a:effectLst/>
                <a:latin typeface="inherit"/>
              </a:rPr>
              <a:t> — простая, но рабочая модель приоритета локального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164394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100"/>
          <p:cNvPicPr preferRelativeResize="0"/>
          <p:nvPr/>
        </p:nvPicPr>
        <p:blipFill rotWithShape="1">
          <a:blip r:embed="rId3">
            <a:alphaModFix/>
          </a:blip>
          <a:srcRect l="10873" b="29922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10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10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10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0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1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1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462" name="Google Shape;46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552</Words>
  <Application>Microsoft Office PowerPoint</Application>
  <PresentationFormat>Экран (16:9)</PresentationFormat>
  <Paragraphs>114</Paragraphs>
  <Slides>15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-apple-system</vt:lpstr>
      <vt:lpstr>Roboto Medium</vt:lpstr>
      <vt:lpstr>Arial</vt:lpstr>
      <vt:lpstr>inherit</vt:lpstr>
      <vt:lpstr>Courier New</vt:lpstr>
      <vt:lpstr>Roboto</vt:lpstr>
      <vt:lpstr>Светлая тема</vt:lpstr>
      <vt:lpstr>Светлая тема</vt:lpstr>
      <vt:lpstr>Презентация PowerPoint</vt:lpstr>
      <vt:lpstr>Презентация PowerPoint</vt:lpstr>
      <vt:lpstr>План защиты</vt:lpstr>
      <vt:lpstr>Презентация PowerPoint</vt:lpstr>
      <vt:lpstr>Общая архитектура </vt:lpstr>
      <vt:lpstr>Общая архитектура </vt:lpstr>
      <vt:lpstr>Стек технологий</vt:lpstr>
      <vt:lpstr>Стек технологий</vt:lpstr>
      <vt:lpstr>Штатное состояние</vt:lpstr>
      <vt:lpstr>Тест 1 — Отказ member-link MLAG </vt:lpstr>
      <vt:lpstr>Тест 2 — МежЦОДовый failover VIP </vt:lpstr>
      <vt:lpstr>Сводка проверок</vt:lpstr>
      <vt:lpstr>Выводы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Анохин Александр Дмитриевич</cp:lastModifiedBy>
  <cp:revision>27</cp:revision>
  <dcterms:modified xsi:type="dcterms:W3CDTF">2026-06-26T14:06:40Z</dcterms:modified>
</cp:coreProperties>
</file>